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75c88051541cd" /><Relationship Type="http://schemas.openxmlformats.org/officeDocument/2006/relationships/extended-properties" Target="/docProps/app.xml" Id="R06ac0697141a4a73" /><Relationship Type="http://schemas.openxmlformats.org/officeDocument/2006/relationships/officeDocument" Target="/ppt/presentation.xml" Id="Rf3cebed83e95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a5038785f44a2"/>
  </p:sldMasterIdLst>
  <p:notesMasterIdLst>
    <p:notesMasterId xmlns:r="http://schemas.openxmlformats.org/officeDocument/2006/relationships" r:id="R55f9fad269a04eb7"/>
  </p:notesMasterIdLst>
  <p:sldIdLst>
    <p:sldId xmlns:r="http://schemas.openxmlformats.org/officeDocument/2006/relationships" id="256" r:id="R580747bc31494585"/>
    <p:sldId xmlns:r="http://schemas.openxmlformats.org/officeDocument/2006/relationships" id="257" r:id="R40884e986cdc42c9"/>
    <p:sldId xmlns:r="http://schemas.openxmlformats.org/officeDocument/2006/relationships" id="258" r:id="Rd1113cc67a3a4145"/>
    <p:sldId xmlns:r="http://schemas.openxmlformats.org/officeDocument/2006/relationships" id="259" r:id="R62d972a0165d4bb9"/>
    <p:sldId xmlns:r="http://schemas.openxmlformats.org/officeDocument/2006/relationships" id="260" r:id="R649b1ad3f675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6c4f1bb1544c1" /><Relationship Type="http://schemas.openxmlformats.org/officeDocument/2006/relationships/slideMaster" Target="/ppt/slideMasters/slideMaster1.xml" Id="R160a5038785f44a2" /><Relationship Type="http://schemas.openxmlformats.org/officeDocument/2006/relationships/notesMaster" Target="/ppt/notesMasters/notesMaster1.xml" Id="R55f9fad269a04eb7" /><Relationship Type="http://schemas.openxmlformats.org/officeDocument/2006/relationships/presProps" Target="/ppt/presProps.xml" Id="Rbdbb0e0d6f974f85" /><Relationship Type="http://schemas.openxmlformats.org/officeDocument/2006/relationships/tableStyles" Target="/ppt/tableStyles.xml" Id="Rd7e4abd90a1e48be" /><Relationship Type="http://schemas.openxmlformats.org/officeDocument/2006/relationships/slide" Target="/ppt/slides/slide1.xml" Id="R580747bc31494585" /><Relationship Type="http://schemas.openxmlformats.org/officeDocument/2006/relationships/slide" Target="/ppt/slides/slide2.xml" Id="R40884e986cdc42c9" /><Relationship Type="http://schemas.openxmlformats.org/officeDocument/2006/relationships/slide" Target="/ppt/slides/slide3.xml" Id="Rd1113cc67a3a4145" /><Relationship Type="http://schemas.openxmlformats.org/officeDocument/2006/relationships/slide" Target="/ppt/slides/slide4.xml" Id="R62d972a0165d4bb9" /><Relationship Type="http://schemas.openxmlformats.org/officeDocument/2006/relationships/slide" Target="/ppt/slides/slide5.xml" Id="R649b1ad3f675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3a54f63d1f49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aef9ab3094772" /><Relationship Type="http://schemas.openxmlformats.org/officeDocument/2006/relationships/notesMaster" Target="/ppt/notesMasters/notesMaster1.xml" Id="R1420782f3a4840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2c067d487e4ab9" /><Relationship Type="http://schemas.openxmlformats.org/officeDocument/2006/relationships/notesMaster" Target="/ppt/notesMasters/notesMaster1.xml" Id="Rf681c009b554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2aacc37e64907" /><Relationship Type="http://schemas.openxmlformats.org/officeDocument/2006/relationships/notesMaster" Target="/ppt/notesMasters/notesMaster1.xml" Id="R61c64087db82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14398fb544c21" /><Relationship Type="http://schemas.openxmlformats.org/officeDocument/2006/relationships/notesMaster" Target="/ppt/notesMasters/notesMaster1.xml" Id="Ra994f12cd75d40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c75b8fa8e48af" /><Relationship Type="http://schemas.openxmlformats.org/officeDocument/2006/relationships/notesMaster" Target="/ppt/notesMasters/notesMaster1.xml" Id="Rf2267159dfcb4d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проблемы и требований: предоставленный пользователем PDF «HackAlem AI_ ИИ-ассистент для чата на сайте ekt.kz.pdf», страницы 1–2. Все выводы об эффекте ниже являются гипотезами, не результатами измерений.</a:t>
            </a:r>
          </a:p>
          <a:p xmlns:a="http://schemas.openxmlformats.org/drawingml/2006/main">
            <a:r>
              <a:t>Текст выступления, 25 секунд: Покупатель выбирает электротовары, но для проверки характеристик и наличия вынужден обращаться к менеджеру. Если нужной позиции нет, поиск начинается заново. Мы сокращаем этот разрыв между выбором и готовой корзиной.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создан из поставляемого прототипа. Цены, остатки и отзывы на основном экране синтетические. Фотографии категорий: ATO https://www.ato.com/16a-1-pole-5ka-miniature-circuit-breaker и BPK, CC0 https://commons.wikimedia.org/wiki/File:NYM_cable_and_clones.JPG.</a:t>
            </a:r>
          </a:p>
          <a:p xmlns:a="http://schemas.openxmlformats.org/drawingml/2006/main">
            <a:r>
              <a:t>Текст, 30 секунд: Ассистент находится рядом с каталогом. Он отвечает на вопрос, показывает подходящие варианты и объясняет, какие параметры совпадают. Пользователь видит состав, происхождение, историю цены и даты отзывов. Голос выключен по умолчанию. Изменение корзины требует отдельного подтверждения.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Реализовано: статический frontend на ES modules, детерминированный движок, sessionStorage для демо-корзины, локальные отзывы и метаданные файлов. Реальный GET API ekt.kz проверен 23.09.2026, сохранена выборка из 4 товаров. Живой API корзины, LLM, OCR и разбор Excel/Word/PDF не реализованы. Нижний блок описывает план промышленной интеграции. Пароль не включён в клиент, PPTX или репозиторий.</a:t>
            </a:r>
          </a:p>
          <a:p xmlns:a="http://schemas.openxmlformats.org/drawingml/2006/main">
            <a:r>
              <a:t>Текст, 40 секунд: Мы разделяем интерфейс, данные и право изменять корзину. Сейчас frontend полностью демонстрирует путь пользователя. Реальные товары доступны в отдельном датированном снимке API. Следующий этап — серверный BFF для каталога и LLM, затем API корзины с повторной проверкой и защитой от повторного добавления.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демонстрация использует синтетические позиции DEMO-103, DEMO-101, DEMO-102. Цены демонстрационные: 2450 и 3150 тенге. Настоящее расхождение обнаружено в GET https://ekt.kz/api/products/detail?id=515279, снимок 23.09.2026: название и описание 40 А, properties.NOMINALNYY_TOK=125 А. Никакой из вариантов не объявляется автоматически правильным.</a:t>
            </a:r>
          </a:p>
          <a:p xmlns:a="http://schemas.openxmlformats.org/drawingml/2006/main">
            <a:r>
              <a:t>Показать этот сценарий живьём за 90 секунд. После выбора товара задержаться на пустой корзине и экране подтверждения. При сбое сети основной сценарий работает локально.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проблемы и требований: предоставленный пользователем PDF «HackAlem AI_ ИИ-ассистент для чата на сайте ekt.kz.pdf», страницы 1–2. Все выводы об эффекте ниже являются гипотезами, не результатами измерений.</a:t>
            </a:r>
          </a:p>
          <a:p xmlns:a="http://schemas.openxmlformats.org/drawingml/2006/main">
            <a:r>
              <a:t>Расчёт иллюстративный: 1000*0.3*3/60=15 часов в месяц. 1000 обращений, 30% и 3 минуты — явные допущения, а не статистика ekt.kz.</a:t>
            </a:r>
          </a:p>
          <a:p xmlns:a="http://schemas.openxmlformats.org/drawingml/2006/main">
            <a:r>
              <a:t>Текст, 30 секунд: Эффект оцениваем на пилоте: время до решения, конверсию в корзину, долю типовых вопросов без менеджера и точность. Даже иллюстративные 30 процентов от тысячи трёхминутных обращений дают 15 часов. Мы не обещаем эту цифру — проверяем её на реальных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11f01df79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0344f9c8ea4aaa" /><Relationship Type="http://schemas.openxmlformats.org/officeDocument/2006/relationships/slideLayout" Target="/ppt/slideLayouts/slideLayout1.xml" Id="Rd8defc36bc1e4f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efc36bc1e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63464589a4f99" /><Relationship Type="http://schemas.openxmlformats.org/officeDocument/2006/relationships/notesSlide" Target="/ppt/notesSlides/notesSlide1.xml" Id="R2804567eae0c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e23d82ed04315" /><Relationship Type="http://schemas.openxmlformats.org/officeDocument/2006/relationships/image" Target="/ppt/media/image.jpeg" Id="R9be797ea1d844d04" /><Relationship Type="http://schemas.openxmlformats.org/officeDocument/2006/relationships/notesSlide" Target="/ppt/notesSlides/notesSlide2.xml" Id="R45e6d79dfd2144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ef2b719284183" /><Relationship Type="http://schemas.openxmlformats.org/officeDocument/2006/relationships/notesSlide" Target="/ppt/notesSlides/notesSlide3.xml" Id="R755c1185dd0743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4a8bfc8234f27" /><Relationship Type="http://schemas.openxmlformats.org/officeDocument/2006/relationships/notesSlide" Target="/ppt/notesSlides/notesSlide4.xml" Id="Rc2f03d3eda334b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2c7ebc3034b75" /><Relationship Type="http://schemas.openxmlformats.org/officeDocument/2006/relationships/notesSlide" Target="/ppt/notesSlides/notesSlide5.xml" Id="R6e7c5570a92145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BA8D-6F3F-476C-A40D-E493B5F8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Покупка останавливается на вопросе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FA57B-2FB5-4E59-A853-637862E9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1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081BA-D88D-479D-8009-15E0BAD6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EKT Assistant / HackAlem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E81F8-EAD1-4562-BECA-9FF2FAF4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7A052-5D92-4A8C-8472-FD7558F1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«Есть в наличии?</a:t>
            </a:r>
          </a:p>
          <a:p xmlns:a="http://schemas.openxmlformats.org/drawingml/2006/main">
            <a:pPr>
              <a:defRPr sz="33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Чем можно заменить?»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A18F1-FA92-4064-BD4C-64A80E29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Покупателю нужны понятные характеристики,</a:t>
            </a:r>
          </a:p>
          <a:p xmlns:a="http://schemas.openxmlformats.org/drawingml/2006/main">
            <a:pPr>
              <a:defRPr sz="1950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достоверные остатки и подходящий аналог.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A98B9-6055-442B-AA34-8356F3D4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1452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B1788-548F-454A-B9DD-22364E2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574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Клиент ждёт ответа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D42CE-AE27-4F6F-8BBC-C01D12E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Консультация требует звонка</a:t>
            </a:r>
          </a:p>
          <a:p xmlns:a="http://schemas.openxmlformats.org/drawingml/2006/main">
            <a:pPr>
              <a:defRPr sz="18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или сообщения менеджеру.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B6177-E10B-4A7C-BAB3-FAB8C53C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Менеджер повторяет одно и то же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53697-76D3-4E11-9285-6CB8423E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Типовые вопросы отвлекают</a:t>
            </a:r>
          </a:p>
          <a:p xmlns:a="http://schemas.openxmlformats.org/drawingml/2006/main">
            <a:pPr>
              <a:defRPr sz="18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от сложных заказов.</a:t>
            </a:r>
          </a:p>
        </p:txBody>
      </p:sp>
    </p:spTree>
    <p:extLst>
      <p:ext uri="{BB962C8B-B14F-4D97-AF65-F5344CB8AC3E}">
        <p14:creationId xmlns:p14="http://schemas.microsoft.com/office/powerpoint/2010/main" val="710460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7228-6ACB-4DEA-B5F1-4FCE86DB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Консультация и корзина в одном окне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43CA7-E69E-438B-9685-055A83A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1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3CAC3-DD99-447B-A529-4C18A64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EKT Assistant / HackAlem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BD6F3-5C13-4990-A33B-4F12297F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797ea1d844d04"/>
          <a:stretch xmlns:a="http://schemas.openxmlformats.org/drawingml/2006/main"/>
        </p:blipFill>
        <p:spPr>
          <a:xfrm xmlns:a="http://schemas.openxmlformats.org/drawingml/2006/main">
            <a:off x="1007197" y="1638300"/>
            <a:ext cx="6443807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9ABB8-246A-4783-940F-31C4A13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Компактные карточки 2×2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66784-34A8-4A48-B97C-FF1C63FC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Сравнение без переходов</a:t>
            </a:r>
          </a:p>
          <a:p xmlns:a="http://schemas.openxmlformats.org/drawingml/2006/main">
            <a:pPr>
              <a:defRPr sz="202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и объяснение выбора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D3C2E-CFF1-4419-BFAE-2FE5359F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90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Явное подтверждение</a:t>
            </a:r>
          </a:p>
          <a:p xmlns:a="http://schemas.openxmlformats.org/drawingml/2006/main">
            <a:pPr>
              <a:defRPr sz="202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перед изменением корзины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3575A-9ECD-4381-BE39-6FF3969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19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RU · ҚАЗ · EN</a:t>
            </a:r>
          </a:p>
          <a:p xmlns:a="http://schemas.openxmlformats.org/drawingml/2006/main">
            <a:pPr>
              <a:defRPr sz="18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Голос включается по желанию</a:t>
            </a:r>
          </a:p>
        </p:txBody>
      </p:sp>
    </p:spTree>
    <p:extLst>
      <p:ext uri="{BB962C8B-B14F-4D97-AF65-F5344CB8AC3E}">
        <p14:creationId xmlns:p14="http://schemas.microsoft.com/office/powerpoint/2010/main" val="891818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3A3D4-DB67-41CF-A785-1B0C6C49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Архитектура и границы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86E72-A6C1-4B80-BBB6-3C8C538D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1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7DA54-22AC-4C98-A425-CD487F2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EKT Assistant / HackAlem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9509F-3EC6-4178-9782-DBC329EA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EBC79-C59E-490D-B4D6-00B30A62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83B1B-6ADD-4B24-8401-892809E0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Виджет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E81A5-583E-4B91-8379-C6FB8D9E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Чат, сравнение,</a:t>
            </a:r>
          </a:p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настройки и вложения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98747-EE6C-44C0-96E4-65FB0D5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4310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34A83-EFF4-49D8-87C8-5C739C2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669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57005-3E11-4637-99C2-34BEE17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19350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Сценарная 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D3027-7233-44DD-9366-B1A3D4AE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Поиск по артикулу,</a:t>
            </a:r>
          </a:p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параметрам и бюджету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46B91-EB46-40B3-938F-658AF7FE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C6CDC-4C1D-475E-898A-E28DA36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90289-1633-4921-94F8-B699BFD6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75E04-11A1-4447-B7A4-1C4D811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Синтетический каталог</a:t>
            </a:r>
          </a:p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и отдельный снимок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AD797-18EB-4793-8A7C-7BD10491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7F927-426B-47FF-A19E-274BC8D3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669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0BD7B-0F6B-43FD-870E-9B6E23C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Демо-корзина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131BE-8BDB-4C6A-94E5-773B49A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337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Количество и остаток,</a:t>
            </a:r>
          </a:p>
          <a:p xmlns:a="http://schemas.openxmlformats.org/drawingml/2006/main">
            <a:pPr>
              <a:defRPr sz="165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явное подтверждение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DB74A-C82D-498E-8FDB-A06B8640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D16CD-35CE-4553-BC67-502D9394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Для подключения к магазину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EC552-F663-4602-B318-613C18DC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BFF хранит Basic Auth и проверяет источники.</a:t>
            </a:r>
          </a:p>
          <a:p xmlns:a="http://schemas.openxmlformats.org/drawingml/2006/main">
            <a:pPr>
              <a:defRPr sz="1650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LLM и разбор файлов подключаются на сервере.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C4319-2ACA-42EE-B66A-1010AE66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5143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Cart API повторно проверяет цену и остаток.</a:t>
            </a:r>
          </a:p>
          <a:p xmlns:a="http://schemas.openxmlformats.org/drawingml/2006/main">
            <a:pPr>
              <a:defRPr sz="1650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Защита: сессия, CSRF, срок предложения, idempotency.</a:t>
            </a:r>
          </a:p>
        </p:txBody>
      </p:sp>
    </p:spTree>
    <p:extLst>
      <p:ext uri="{BB962C8B-B14F-4D97-AF65-F5344CB8AC3E}">
        <p14:creationId xmlns:p14="http://schemas.microsoft.com/office/powerpoint/2010/main" val="1772507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2EB3B-3E0B-486C-B655-689DAF53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Демо: от отсутствия товара до корзины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9CC87-25B4-448E-AEDA-7F18D953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1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27BB9-3298-4874-86CE-8CF54BD2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EKT Assistant / HackAlem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85636-2002-4731-B434-B9B06A5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90117-4EAE-4CDB-885E-D48FCC3E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A7F3E-1AEE-4E1F-A0AA-26B2FF4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526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65A35-7A01-44BC-806A-800C25A3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81175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«Нужен аналог DEMO-103»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D8562-2824-4DD1-BC74-7015ADCB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55CF6-967A-4983-A3F2-CD9FEDB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00:20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F8DFE-4603-471C-BE13-639D5AFC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1ABC4-65EC-4BE1-B037-8AFDAB2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C16 и C16 Pro: совпадающие параметры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852AF-2580-4055-B60B-8D39F850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B3E42-769B-4C66-BE0A-40E2D08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00:45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038F5-7F8A-4134-B873-2839764C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72667-8DA0-4129-B659-3116734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90925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2 штуки. До «Да, добавить» корзина пуста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346E9-95AF-41AA-A30E-4E4D01FD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B54D3-9D47-45A2-ACEB-68700530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01:10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66E31-778F-4BAB-B548-8B592C58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67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2DBF-9CFD-4F01-9F75-5A12F58D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958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Корзина, сумма и прямая ссылка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5B8AB-BC0C-4C40-83AF-8C49C46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Дополнительная проверка: в API найдены 40 А в названии и 125 А в поле тока.</a:t>
            </a:r>
          </a:p>
          <a:p xmlns:a="http://schemas.openxmlformats.org/drawingml/2006/main">
            <a:pPr>
              <a:defRPr sz="15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Ассистент показывает расхождение и требует уточнения.</a:t>
            </a:r>
          </a:p>
        </p:txBody>
      </p:sp>
    </p:spTree>
    <p:extLst>
      <p:ext uri="{BB962C8B-B14F-4D97-AF65-F5344CB8AC3E}">
        <p14:creationId xmlns:p14="http://schemas.microsoft.com/office/powerpoint/2010/main" val="909826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F16A9-1635-4258-B068-FAA96E6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Бизнес-эффект: проверка в пилоте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53DFF-2C91-407F-A5B8-1643DF1F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1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F67A5-B040-42C6-AE47-DB89A5D2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EKT Assistant / HackAlem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59B7E-06D7-41BB-91A8-F84DFD22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AC9C6-1C3B-4BC0-AAC5-8A731013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63496-063E-4D23-B192-A38A008E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Время до решения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F403C-10F3-481C-9EAF-D012BC0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От первого вопроса до подтверждения корзины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DA077-B5F1-4B46-A780-C5D8800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Конверсия в корзину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6FB29-2D18-4EBD-8BCA-47B949F1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Доля консультаций, завершившихся добавлением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19C61-5392-49F2-B09D-88AE48C2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Нагрузка менеджеров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62547-0CA0-4759-801B-A76CC2B2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Типовые вопросы, решённые без эскалации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C1456-224C-4CA6-BE98-A42E0D3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Достоверность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B95A8-C26E-4658-AB59-D8D691A8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Ошибки цены, наличия и подбора аналогов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00B13-B5C6-42C6-BC4D-7EB0EF7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E16E6-5914-49D2-8CDD-9C002EB3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57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Пример расчёта, не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03154-FE1E-4A9C-8661-94DBC34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384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451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8451D7"/>
                </a:solidFill>
                <a:latin typeface="Arial"/>
                <a:ea typeface="Arial"/>
                <a:cs typeface="Arial"/>
              </a:rPr>
              <a:t>15 часов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37939-2B22-47F9-B3DA-57B65C24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4048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132"/>
                </a:solidFill>
                <a:latin typeface="Arial"/>
                <a:ea typeface="Arial"/>
                <a:cs typeface="Arial"/>
              </a:rPr>
              <a:t>в месяц для сложных заказов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086E3-52F9-4C3C-9DDD-CE7A801F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404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1 000 типовых обращений × 30%</a:t>
            </a:r>
          </a:p>
          <a:p xmlns:a="http://schemas.openxmlformats.org/drawingml/2006/main">
            <a:pPr>
              <a:defRPr sz="1725" b="0">
                <a:solidFill>
                  <a:srgbClr val="2521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132"/>
                </a:solidFill>
                <a:latin typeface="Arial"/>
                <a:ea typeface="Arial"/>
                <a:cs typeface="Arial"/>
              </a:rPr>
              <a:t>самообслуживания × 3 минуты ÷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858E3-9502-499C-9C0E-7DE78068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00700"/>
            <a:ext cx="4048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Гипотеза. Долю и время проверяем</a:t>
            </a:r>
          </a:p>
          <a:p xmlns:a="http://schemas.openxmlformats.org/drawingml/2006/main">
            <a:pPr>
              <a:defRPr sz="1425" b="0">
                <a:solidFill>
                  <a:srgbClr val="736A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6A80"/>
                </a:solidFill>
                <a:latin typeface="Arial"/>
                <a:ea typeface="Arial"/>
                <a:cs typeface="Arial"/>
              </a:rPr>
              <a:t>на пилоте с контрольной группой.</a:t>
            </a:r>
          </a:p>
        </p:txBody>
      </p:sp>
    </p:spTree>
    <p:extLst>
      <p:ext uri="{BB962C8B-B14F-4D97-AF65-F5344CB8AC3E}">
        <p14:creationId xmlns:p14="http://schemas.microsoft.com/office/powerpoint/2010/main" val="991576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2026-09-23T10:33:51.4730000Z</dcterms:created>
  <dcterms:modified xsi:type="dcterms:W3CDTF">2026-09-23T10:33:51.4740000Z</dcterms:modified>
</coreProperties>
</file>